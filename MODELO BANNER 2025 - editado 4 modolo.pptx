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399288" cy="43200638"/>
  <p:notesSz cx="6858000" cy="9144000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00"/>
    <a:srgbClr val="800000"/>
    <a:srgbClr val="990033"/>
    <a:srgbClr val="0000CC"/>
    <a:srgbClr val="0000FF"/>
    <a:srgbClr val="120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223359-6DE6-75D8-09A8-96E8EC988662}" v="2" dt="2025-03-31T22:22:25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9631" autoAdjust="0"/>
  </p:normalViewPr>
  <p:slideViewPr>
    <p:cSldViewPr snapToGrid="0">
      <p:cViewPr varScale="1">
        <p:scale>
          <a:sx n="20" d="100"/>
          <a:sy n="20" d="100"/>
        </p:scale>
        <p:origin x="2754" y="90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56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832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81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25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18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7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93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869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11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69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249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9450A-6B08-4573-909A-D69CD7EFDA0C}" type="datetimeFigureOut">
              <a:rPr lang="pt-BR" smtClean="0"/>
              <a:pPr/>
              <a:t>23/03/2026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20386-88F6-4A4A-8D9B-BBEAF6814C1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69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demos.jquerymobile.com/1.4.5/" TargetMode="External"/><Relationship Id="rId7" Type="http://schemas.openxmlformats.org/officeDocument/2006/relationships/image" Target="../media/image1.png"/><Relationship Id="rId2" Type="http://schemas.openxmlformats.org/officeDocument/2006/relationships/hyperlink" Target="mailto:email1@lebson.silva18@etec.sp.gov.br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hp.net/manual/pt_BR/" TargetMode="External"/><Relationship Id="rId5" Type="http://schemas.openxmlformats.org/officeDocument/2006/relationships/hyperlink" Target="https://www.hostinger.com" TargetMode="External"/><Relationship Id="rId4" Type="http://schemas.openxmlformats.org/officeDocument/2006/relationships/hyperlink" Target="https://www.gennera.com.br/blog/comunicacao-escolar-por-que-sua-instituicao-precisa-de-um-aplicativo/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8658226" y="1035398"/>
            <a:ext cx="216730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342899" y="7259923"/>
            <a:ext cx="876844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pt-BR" sz="3200" b="1" dirty="0"/>
              <a:t>Orientador: Nome do Orientado</a:t>
            </a:r>
          </a:p>
          <a:p>
            <a:pPr algn="ctr">
              <a:defRPr/>
            </a:pPr>
            <a:r>
              <a:rPr lang="pt-BR" sz="3200" b="1" dirty="0"/>
              <a:t>Ou Prof. Orientador do Projeto</a:t>
            </a:r>
          </a:p>
        </p:txBody>
      </p:sp>
      <p:sp>
        <p:nvSpPr>
          <p:cNvPr id="29" name="CaixaDeTexto 37"/>
          <p:cNvSpPr txBox="1">
            <a:spLocks noChangeArrowheads="1"/>
          </p:cNvSpPr>
          <p:nvPr/>
        </p:nvSpPr>
        <p:spPr bwMode="auto">
          <a:xfrm>
            <a:off x="18722975" y="21055749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0"/>
              </a:spcBef>
              <a:spcAft>
                <a:spcPct val="0"/>
              </a:spcAft>
              <a:defRPr sz="7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800"/>
          </a:p>
        </p:txBody>
      </p:sp>
      <p:sp>
        <p:nvSpPr>
          <p:cNvPr id="2" name="CaixaDeTexto 1"/>
          <p:cNvSpPr txBox="1"/>
          <p:nvPr/>
        </p:nvSpPr>
        <p:spPr>
          <a:xfrm>
            <a:off x="18907706" y="8480071"/>
            <a:ext cx="1214235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/>
              <a:t>[ALUNO 1]</a:t>
            </a:r>
          </a:p>
          <a:p>
            <a:r>
              <a:rPr lang="pt-BR" sz="5400" u="sng" dirty="0">
                <a:hlinkClick r:id="rId2"/>
              </a:rPr>
              <a:t>email1@@etec.sp.gov.br</a:t>
            </a:r>
            <a:endParaRPr lang="pt-BR" sz="5400" dirty="0"/>
          </a:p>
          <a:p>
            <a:r>
              <a:rPr lang="pt-BR" sz="5400" dirty="0"/>
              <a:t>[ALUNO 2]</a:t>
            </a:r>
          </a:p>
          <a:p>
            <a:r>
              <a:rPr lang="pt-BR" sz="5400" u="sng" dirty="0">
                <a:hlinkClick r:id="rId2"/>
              </a:rPr>
              <a:t>email2@@etec.sp.gov.br</a:t>
            </a:r>
            <a:endParaRPr lang="pt-BR" sz="5400" dirty="0"/>
          </a:p>
          <a:p>
            <a:r>
              <a:rPr lang="pt-BR" sz="5400" dirty="0"/>
              <a:t>[ALUNO 3]</a:t>
            </a:r>
          </a:p>
          <a:p>
            <a:r>
              <a:rPr lang="pt-BR" sz="5400" u="sng" dirty="0">
                <a:hlinkClick r:id="rId2"/>
              </a:rPr>
              <a:t>email3@@etec.sp.gov.br</a:t>
            </a:r>
            <a:endParaRPr lang="pt-BR" sz="5400" dirty="0"/>
          </a:p>
          <a:p>
            <a:r>
              <a:rPr lang="pt-BR" sz="5400" dirty="0"/>
              <a:t>[ALUNO 4]</a:t>
            </a:r>
          </a:p>
          <a:p>
            <a:r>
              <a:rPr lang="pt-BR" sz="5400" u="sng" dirty="0">
                <a:hlinkClick r:id="rId2"/>
              </a:rPr>
              <a:t>email4@@etec.sp.gov.br</a:t>
            </a:r>
            <a:endParaRPr lang="pt-BR" sz="5400" dirty="0"/>
          </a:p>
        </p:txBody>
      </p:sp>
      <p:sp>
        <p:nvSpPr>
          <p:cNvPr id="6" name="Retângulo 5"/>
          <p:cNvSpPr/>
          <p:nvPr/>
        </p:nvSpPr>
        <p:spPr>
          <a:xfrm>
            <a:off x="9111341" y="5424310"/>
            <a:ext cx="225257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0" b="1" dirty="0"/>
              <a:t>TÍTULO DO TRABALHO</a:t>
            </a:r>
            <a:endParaRPr lang="pt-BR" sz="6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F6A757-3247-44A3-81F9-AD190D979015}"/>
              </a:ext>
            </a:extLst>
          </p:cNvPr>
          <p:cNvSpPr txBox="1"/>
          <p:nvPr/>
        </p:nvSpPr>
        <p:spPr>
          <a:xfrm>
            <a:off x="688926" y="10105168"/>
            <a:ext cx="14732747" cy="95102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RESUMO</a:t>
            </a:r>
            <a:endParaRPr lang="pt-BR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5400" dirty="0">
                <a:latin typeface="Arial" panose="020B0604020202020204" pitchFamily="34" charset="0"/>
                <a:cs typeface="Arial" panose="020B0604020202020204" pitchFamily="34" charset="0"/>
              </a:rPr>
              <a:t>Após pesquisas percebe-se que a sociedade está cada vez menos conectada com a leitura sendo esses dados preocupantes, o principal objetivo deste trabalho é mostrar as vantagens de ter esse abito além de incentivar a criar esse habito</a:t>
            </a:r>
          </a:p>
          <a:p>
            <a:pPr algn="just"/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PALAVRAS-CHAVE:</a:t>
            </a:r>
            <a:r>
              <a:rPr lang="pt-BR" sz="5400" dirty="0"/>
              <a:t>CONSCIENTIZAR; INTERAGIR; INCENTIVAR; ENSINAR; MOSTRAR</a:t>
            </a:r>
          </a:p>
          <a:p>
            <a:pPr algn="just"/>
            <a:endParaRPr lang="pt-BR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EB9A35C-1A04-44E3-B24D-BA17D4237BB6}"/>
              </a:ext>
            </a:extLst>
          </p:cNvPr>
          <p:cNvSpPr txBox="1"/>
          <p:nvPr/>
        </p:nvSpPr>
        <p:spPr>
          <a:xfrm>
            <a:off x="625255" y="25533444"/>
            <a:ext cx="16972173" cy="941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REFERENCIAL TEÓRICO</a:t>
            </a:r>
          </a:p>
          <a:p>
            <a:r>
              <a:rPr lang="pt-BR" sz="5400" dirty="0"/>
              <a:t>Segundo o G1, “A importância da leitura é algo inquestionável na formação do indivíduo, pois a mesma permite o senso de criatividade, aprimora a empatia, amplia o vocabulário e nos oferece o posicionamento crítico sobre sua visão de mundo.” e de acordo com o escritor Francisco Mora em entrevista a BBC, "Ler não é um ato passivo de absorção do que está escrito em determinado documento ou livro, mas um processo ativo, ou até recreativo ('criar novamente'), em relação ao descrito ali."</a:t>
            </a:r>
          </a:p>
          <a:p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94AD1A1-74A2-45B2-AAB8-11C78A393E82}"/>
              </a:ext>
            </a:extLst>
          </p:cNvPr>
          <p:cNvSpPr txBox="1"/>
          <p:nvPr/>
        </p:nvSpPr>
        <p:spPr>
          <a:xfrm>
            <a:off x="625255" y="34167786"/>
            <a:ext cx="1473274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  <a:p>
            <a:pPr algn="just"/>
            <a:r>
              <a:rPr lang="pt-BR" sz="5400" dirty="0">
                <a:latin typeface="Arial" panose="020B0604020202020204" pitchFamily="34" charset="0"/>
                <a:cs typeface="Arial" panose="020B0604020202020204" pitchFamily="34" charset="0"/>
              </a:rPr>
              <a:t>Pesquisa bibliográfica e experimental. Utilizando materiais e outras pesquisas como fontes, além de investigar novas técnicas e processos.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F5B905A-3522-4D5E-842E-8E59F3652610}"/>
              </a:ext>
            </a:extLst>
          </p:cNvPr>
          <p:cNvSpPr txBox="1"/>
          <p:nvPr/>
        </p:nvSpPr>
        <p:spPr>
          <a:xfrm>
            <a:off x="17231293" y="16337147"/>
            <a:ext cx="1425436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DESENVOLVIMENTO</a:t>
            </a:r>
          </a:p>
          <a:p>
            <a:pPr algn="just"/>
            <a:r>
              <a:rPr lang="pt-BR" sz="54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</a:t>
            </a:r>
            <a:endParaRPr lang="pt-B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2F336AB-CA7B-47A0-BD65-81BB915E737D}"/>
              </a:ext>
            </a:extLst>
          </p:cNvPr>
          <p:cNvSpPr txBox="1"/>
          <p:nvPr/>
        </p:nvSpPr>
        <p:spPr>
          <a:xfrm>
            <a:off x="688927" y="19138782"/>
            <a:ext cx="14732746" cy="60016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6000" b="1" dirty="0">
                <a:latin typeface="Arial"/>
                <a:cs typeface="Arial"/>
              </a:rPr>
              <a:t>INTRODUÇÃO</a:t>
            </a:r>
            <a:endParaRPr lang="pt-BR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5400" dirty="0"/>
              <a:t>Segundo notícias do G1, o número de leitores no Brasil caiu 7 milhões em um período de apenas 4 anos, o site terá um alto teor educacional, catalogando diversos tipos de livros com resenhas e críticas acerca da obra indexada, com o objetivo de nortear e incentivar o leitor a ler mais</a:t>
            </a:r>
            <a:endParaRPr lang="pt-B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98D8C8E-8155-46B3-A502-C3F48693CD12}"/>
              </a:ext>
            </a:extLst>
          </p:cNvPr>
          <p:cNvSpPr txBox="1"/>
          <p:nvPr/>
        </p:nvSpPr>
        <p:spPr>
          <a:xfrm>
            <a:off x="17231293" y="26041275"/>
            <a:ext cx="14176604" cy="18466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  <a:p>
            <a:pPr algn="just"/>
            <a:r>
              <a:rPr lang="pt-BR" sz="54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</a:t>
            </a:r>
            <a:r>
              <a:rPr lang="pt-BR" sz="5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B46920-F2AC-4364-B173-5FC5AFA7227A}"/>
              </a:ext>
            </a:extLst>
          </p:cNvPr>
          <p:cNvSpPr txBox="1"/>
          <p:nvPr/>
        </p:nvSpPr>
        <p:spPr>
          <a:xfrm>
            <a:off x="17326445" y="32990986"/>
            <a:ext cx="1417660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PRINCIPAIS REFERÊNCIAS</a:t>
            </a:r>
          </a:p>
          <a:p>
            <a:pPr algn="just"/>
            <a:r>
              <a:rPr lang="pt-BR" sz="5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https://demos.jquerymobile.com/1.4.5/</a:t>
            </a:r>
            <a:endParaRPr lang="pt-BR" sz="5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5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https://www.gennera.com.br/blog/comunicacao-escolar-por-que-sua-instituicao-precisa-de-um-aplicativo/</a:t>
            </a:r>
            <a:endParaRPr lang="pt-BR" sz="5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5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https://www.hostinger.com</a:t>
            </a:r>
            <a:endParaRPr lang="pt-BR" sz="5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5400" dirty="0">
                <a:solidFill>
                  <a:schemeClr val="accent5"/>
                </a:solidFill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https://www.php.net/manual/pt_BR/</a:t>
            </a:r>
            <a:endParaRPr lang="pt-BR" sz="5400" dirty="0">
              <a:latin typeface="Arial"/>
              <a:cs typeface="Arial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DA5E345-6A3F-402E-926E-A382B9103F2E}"/>
              </a:ext>
            </a:extLst>
          </p:cNvPr>
          <p:cNvSpPr/>
          <p:nvPr/>
        </p:nvSpPr>
        <p:spPr>
          <a:xfrm>
            <a:off x="9111343" y="501445"/>
            <a:ext cx="22525738" cy="4484468"/>
          </a:xfrm>
          <a:prstGeom prst="rect">
            <a:avLst/>
          </a:prstGeom>
          <a:solidFill>
            <a:srgbClr val="00206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0" b="1" dirty="0">
                <a:latin typeface="Arial" panose="020B0604020202020204" pitchFamily="34" charset="0"/>
                <a:cs typeface="Arial" panose="020B0604020202020204" pitchFamily="34" charset="0"/>
              </a:rPr>
              <a:t>Técnico em Informática para Internet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F886DA3-F865-4E6D-9B19-1A067D29A1E1}"/>
              </a:ext>
            </a:extLst>
          </p:cNvPr>
          <p:cNvSpPr txBox="1"/>
          <p:nvPr/>
        </p:nvSpPr>
        <p:spPr>
          <a:xfrm>
            <a:off x="342902" y="5216795"/>
            <a:ext cx="8768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CD E.E. Prof.ª Alice Marques da Silva Rocha”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163F82D-4267-441F-A58D-556EAB2680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38992629"/>
            <a:ext cx="32399289" cy="4265479"/>
          </a:xfrm>
          <a:prstGeom prst="rect">
            <a:avLst/>
          </a:prstGeom>
        </p:spPr>
      </p:pic>
      <p:pic>
        <p:nvPicPr>
          <p:cNvPr id="28" name="Imagem 27" descr="Logotipo&#10;&#10;Descrição gerada automaticamente">
            <a:extLst>
              <a:ext uri="{FF2B5EF4-FFF2-40B4-BE49-F238E27FC236}">
                <a16:creationId xmlns:a16="http://schemas.microsoft.com/office/drawing/2014/main" id="{0818D2B1-91D4-431A-ABE9-9C9F26F7EF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1292" y="38992629"/>
            <a:ext cx="15167995" cy="420800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E568BC8-EA66-4723-832A-8A765EDC56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08" y="501445"/>
            <a:ext cx="7896018" cy="448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73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20F025E2C3B248AB5EC7F171D7DBB7" ma:contentTypeVersion="0" ma:contentTypeDescription="Crie um novo documento." ma:contentTypeScope="" ma:versionID="84ad650b37f203cb0c4a011b28d6033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78f746c3a1c47dbaea02d3be93aa98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4E9EA0-A4C4-4EA8-9AD0-99130542AA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C987DA-7B54-4B07-8290-76BF36EE0E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BC7E0C2-BE97-42D8-BA81-F53E12B5F4FB}">
  <ds:schemaRefs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1669</TotalTime>
  <Words>365</Words>
  <Application>Microsoft Office PowerPoint</Application>
  <PresentationFormat>Personalizar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Etec</dc:creator>
  <cp:lastModifiedBy>Andrei Hirata</cp:lastModifiedBy>
  <cp:revision>85</cp:revision>
  <dcterms:created xsi:type="dcterms:W3CDTF">2015-06-08T20:16:45Z</dcterms:created>
  <dcterms:modified xsi:type="dcterms:W3CDTF">2026-03-23T22:32:47Z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0x0101001320F025E2C3B248AB5EC7F171D7DBB7</vt:lpwstr>
  </property>
</Properties>
</file>